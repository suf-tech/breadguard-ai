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87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readguard-ai-frontend.vercel.app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FINAL YEAR PROJECT  •  DEEP LEARNING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BreadGuard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2F6FC"/>
                </a:solidFill>
              </a:rPr>
              <a:t>AI-Based Bread Spoilage Detection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2F6FC"/>
                </a:solidFill>
              </a:rPr>
              <a:t>Using Deep Learning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3FE0C5"/>
                </a:solidFill>
              </a:rPr>
              <a:t>Hafiz Muhammad Sufiyan Khan  |  BSCS7A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4251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9BBD0"/>
                </a:solidFill>
              </a:rPr>
              <a:t>Department of Computer Science  •  Instructor: Dr. Munir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983480"/>
            <a:ext cx="3246120" cy="1143000"/>
          </a:xfrm>
          <a:prstGeom prst="roundRect">
            <a:avLst>
              <a:gd name="adj" fmla="val 11200"/>
            </a:avLst>
          </a:prstGeom>
          <a:solidFill>
            <a:srgbClr val="142238"/>
          </a:solidFill>
          <a:ln w="12700">
            <a:solidFill>
              <a:srgbClr val="2941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518464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BD0"/>
                </a:solidFill>
              </a:rPr>
              <a:t>DATASET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8408" y="5577840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3FE0C5"/>
                </a:solidFill>
              </a:rPr>
              <a:t>472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78408" y="5390388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BD0"/>
                </a:solidFill>
              </a:rPr>
              <a:t>unique images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4983480"/>
            <a:ext cx="3246120" cy="1143000"/>
          </a:xfrm>
          <a:prstGeom prst="roundRect">
            <a:avLst>
              <a:gd name="adj" fmla="val 11200"/>
            </a:avLst>
          </a:prstGeom>
          <a:solidFill>
            <a:srgbClr val="142238"/>
          </a:solidFill>
          <a:ln w="12700">
            <a:solidFill>
              <a:srgbClr val="2941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3128" y="518464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BD0"/>
                </a:solidFill>
              </a:rPr>
              <a:t>BEST TEST ACCURACY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53128" y="5577840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3FE0C5"/>
                </a:solidFill>
              </a:rPr>
              <a:t>94.52%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453128" y="5413248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BD0"/>
                </a:solidFill>
              </a:rPr>
              <a:t>MobileNetV2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26680" y="4983480"/>
            <a:ext cx="3246120" cy="1143000"/>
          </a:xfrm>
          <a:prstGeom prst="roundRect">
            <a:avLst>
              <a:gd name="adj" fmla="val 11200"/>
            </a:avLst>
          </a:prstGeom>
          <a:solidFill>
            <a:srgbClr val="142238"/>
          </a:solidFill>
          <a:ln w="12700">
            <a:solidFill>
              <a:srgbClr val="2941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7848" y="518464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BD0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27848" y="5577840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3FE0C5"/>
                </a:solidFill>
              </a:rPr>
              <a:t>LIVE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927848" y="5426964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BD0"/>
                </a:solidFill>
              </a:rPr>
              <a:t>Vercel + Render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BREADGUARD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04825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2024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F2F6FC"/>
                </a:solidFill>
              </a:rPr>
              <a:t>Bread can develop visible mold and spoilage during storage.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305409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2608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F2F6FC"/>
                </a:solidFill>
              </a:rPr>
              <a:t>Human inspection varies with lighting, image quality, and judgment.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22960" y="405993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93192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F2F6FC"/>
                </a:solidFill>
              </a:rPr>
              <a:t>A browser-based screening tool can make image assessment more accessible.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68680" y="5715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BB75"/>
                </a:solidFill>
              </a:rPr>
              <a:t>Scope: visual image classification — not food-safety certification.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BREADGUARD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91109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78308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Curate a labeled dataset of Fresh and Spoiled bread images.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277977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65176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Train a custom CNN and a transfer-learning MobileNetV2 model.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364845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52044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Evaluate on unseen test images with accuracy and class recall.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51713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438912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Deploy an easy-to-use web interface backed by a prediction API.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BREADGUARD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System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2560320"/>
            <a:ext cx="2103120" cy="1143000"/>
          </a:xfrm>
          <a:prstGeom prst="roundRect">
            <a:avLst>
              <a:gd name="adj" fmla="val 10400"/>
            </a:avLst>
          </a:prstGeom>
          <a:solidFill>
            <a:srgbClr val="1B3047"/>
          </a:solidFill>
          <a:ln w="12700">
            <a:solidFill>
              <a:srgbClr val="3D58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88036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6FC"/>
                </a:solidFill>
              </a:rPr>
              <a:t>Upload image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06624" y="29443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3FE0C5"/>
                </a:solidFill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953512" y="2560320"/>
            <a:ext cx="2103120" cy="1143000"/>
          </a:xfrm>
          <a:prstGeom prst="roundRect">
            <a:avLst>
              <a:gd name="adj" fmla="val 10400"/>
            </a:avLst>
          </a:prstGeom>
          <a:solidFill>
            <a:srgbClr val="1B3047"/>
          </a:solidFill>
          <a:ln w="12700">
            <a:solidFill>
              <a:srgbClr val="3D58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88036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6FC"/>
                </a:solidFill>
              </a:rPr>
              <a:t>Resize + RGB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65776" y="29443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3FE0C5"/>
                </a:solidFill>
              </a:rPr>
              <a:t>→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312664" y="2560320"/>
            <a:ext cx="2103120" cy="1143000"/>
          </a:xfrm>
          <a:prstGeom prst="roundRect">
            <a:avLst>
              <a:gd name="adj" fmla="val 10400"/>
            </a:avLst>
          </a:prstGeom>
          <a:solidFill>
            <a:srgbClr val="1B3047"/>
          </a:solidFill>
          <a:ln w="12700">
            <a:solidFill>
              <a:srgbClr val="3D58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22392" y="288036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6FC"/>
                </a:solidFill>
              </a:rPr>
              <a:t>Model inference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24928" y="29443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3FE0C5"/>
                </a:solidFill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671816" y="2560320"/>
            <a:ext cx="2103120" cy="1143000"/>
          </a:xfrm>
          <a:prstGeom prst="roundRect">
            <a:avLst>
              <a:gd name="adj" fmla="val 10400"/>
            </a:avLst>
          </a:prstGeom>
          <a:solidFill>
            <a:srgbClr val="1B3047"/>
          </a:solidFill>
          <a:ln w="12700">
            <a:solidFill>
              <a:srgbClr val="3D58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81544" y="288036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6FC"/>
                </a:solidFill>
              </a:rPr>
              <a:t>Fresh / Spoiled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84080" y="29443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3FE0C5"/>
                </a:solidFill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10030968" y="2560320"/>
            <a:ext cx="2103120" cy="1143000"/>
          </a:xfrm>
          <a:prstGeom prst="roundRect">
            <a:avLst>
              <a:gd name="adj" fmla="val 10400"/>
            </a:avLst>
          </a:prstGeom>
          <a:solidFill>
            <a:srgbClr val="16483F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0696" y="288036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E0C5"/>
                </a:solidFill>
              </a:rPr>
              <a:t>Show result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4709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A9BBD0"/>
                </a:solidFill>
              </a:rPr>
              <a:t>Frontend: Vercel   •   API: FastAPI on Render   •   Models: TensorFlow / Keras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BREADGUARD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Dataset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383280" cy="1737360"/>
          </a:xfrm>
          <a:prstGeom prst="roundRect">
            <a:avLst>
              <a:gd name="adj" fmla="val 7368"/>
            </a:avLst>
          </a:prstGeom>
          <a:solidFill>
            <a:srgbClr val="142238"/>
          </a:solidFill>
          <a:ln w="12700">
            <a:solidFill>
              <a:srgbClr val="2941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02996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BD0"/>
                </a:solidFill>
              </a:rPr>
              <a:t>TOTAL IMAGES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2423160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3FE0C5"/>
                </a:solidFill>
              </a:rPr>
              <a:t>472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32688" y="310896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BD0"/>
                </a:solidFill>
              </a:rPr>
              <a:t>SHA-256 deduplicated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383280" cy="1737360"/>
          </a:xfrm>
          <a:prstGeom prst="roundRect">
            <a:avLst>
              <a:gd name="adj" fmla="val 7368"/>
            </a:avLst>
          </a:prstGeom>
          <a:solidFill>
            <a:srgbClr val="142238"/>
          </a:solidFill>
          <a:ln w="12700">
            <a:solidFill>
              <a:srgbClr val="2941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02996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BD0"/>
                </a:solidFill>
              </a:rPr>
              <a:t>FRESH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0288" y="2423160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6AA9FF"/>
                </a:solidFill>
              </a:rPr>
              <a:t>374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90288" y="310896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BD0"/>
                </a:solidFill>
              </a:rPr>
              <a:t>79.2% of dataset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383280" cy="1737360"/>
          </a:xfrm>
          <a:prstGeom prst="roundRect">
            <a:avLst>
              <a:gd name="adj" fmla="val 7368"/>
            </a:avLst>
          </a:prstGeom>
          <a:solidFill>
            <a:srgbClr val="142238"/>
          </a:solidFill>
          <a:ln w="12700">
            <a:solidFill>
              <a:srgbClr val="2941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202996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BD0"/>
                </a:solidFill>
              </a:rPr>
              <a:t>SPOILED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47888" y="2423160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BB75"/>
                </a:solidFill>
              </a:rPr>
              <a:t>98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247888" y="310896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BD0"/>
                </a:solidFill>
              </a:rPr>
              <a:t>20.8% of dataset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F2F6FC"/>
                </a:solidFill>
              </a:rPr>
              <a:t>Image preprocessing: RGB  •  224 × 224 pixels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5120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A9BBD0"/>
                </a:solidFill>
              </a:rPr>
              <a:t>Note: the dataset is class-imbalanced; spoiled-class recall is important.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BREADGUARD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Train / Validation / Test Split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06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1783080"/>
          <a:ext cx="10241280" cy="32004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Split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Fresh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Spoiled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Total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Training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261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68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329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Validation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56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14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70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Testing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57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16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73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Total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374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98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2F6FC"/>
                          </a:solidFill>
                        </a:rPr>
                        <a:t>472</a:t>
                      </a:r>
                      <a:endParaRPr lang="en-US" sz="2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4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FE0C5"/>
                </a:solidFill>
              </a:rPr>
              <a:t>Held-out test set: 73 images, including 16 spoiled examples.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BREADGUARD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Model A: Custom CNN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95681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82880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Custom convolutional network trained for two-class classification.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277977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65176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Learns bread-specific image patterns from the project dataset.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360273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47472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Test accuracy: 89.04%.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2569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429768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Spoiled-class recall: 75.00% (12 of 16).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BREADGUARD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Model B: MobileNetV2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95681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82880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ImageNet-pretrained MobileNetV2 adapted using transfer learning.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277977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65176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Uses previously learned visual features to support classification.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360273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47472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Test accuracy: 94.52%.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2569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429768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Spoiled-class recall: 81.25% (13 of 16).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BREADGUARD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Training Curves — Custom CNN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09</a:t>
            </a:r>
            <a:endParaRPr lang="en-US" sz="1000" dirty="0"/>
          </a:p>
        </p:txBody>
      </p:sp>
      <p:pic>
        <p:nvPicPr>
          <p:cNvPr id="7" name="Image 0" descr="/mnt/data/cnn_v4_training_grap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64207"/>
            <a:ext cx="1069848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6144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BD0"/>
                </a:solidFill>
              </a:rPr>
              <a:t>Training and validation behavior of the custom CNN.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BREADGUARD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Training Curves — MobileNetV2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10</a:t>
            </a:r>
            <a:endParaRPr lang="en-US" sz="1000" dirty="0"/>
          </a:p>
        </p:txBody>
      </p:sp>
      <p:pic>
        <p:nvPicPr>
          <p:cNvPr id="7" name="Image 0" descr="/mnt/data/mobilenet_training_grap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85687"/>
            <a:ext cx="1069848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6144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BD0"/>
                </a:solidFill>
              </a:rPr>
              <a:t>Training and validation behavior of the transfer-learning model.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BREADGUARD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Confusion Matrix — Custom CNN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11</a:t>
            </a:r>
            <a:endParaRPr lang="en-US" sz="1000" dirty="0"/>
          </a:p>
        </p:txBody>
      </p:sp>
      <p:pic>
        <p:nvPicPr>
          <p:cNvPr id="7" name="Image 0" descr="/mnt/data/cnn_v4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751076"/>
            <a:ext cx="6035040" cy="4389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920240"/>
            <a:ext cx="3840480" cy="1463040"/>
          </a:xfrm>
          <a:prstGeom prst="roundRect">
            <a:avLst>
              <a:gd name="adj" fmla="val 8750"/>
            </a:avLst>
          </a:prstGeom>
          <a:solidFill>
            <a:srgbClr val="142238"/>
          </a:solidFill>
          <a:ln w="12700">
            <a:solidFill>
              <a:srgbClr val="2941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62088" y="212140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BD0"/>
                </a:solidFill>
              </a:rPr>
              <a:t>CORRECT PREDICTIONS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62088" y="2354580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3FE0C5"/>
                </a:solidFill>
              </a:rPr>
              <a:t>65 / 73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562088" y="2926080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BD0"/>
                </a:solidFill>
              </a:rPr>
              <a:t>53 fresh + 12 spoiled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60920" y="3654220"/>
            <a:ext cx="3840480" cy="1463040"/>
          </a:xfrm>
          <a:prstGeom prst="roundRect">
            <a:avLst>
              <a:gd name="adj" fmla="val 8750"/>
            </a:avLst>
          </a:prstGeom>
          <a:solidFill>
            <a:srgbClr val="142238"/>
          </a:solidFill>
          <a:ln w="12700">
            <a:solidFill>
              <a:srgbClr val="29415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62088" y="395020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BD0"/>
                </a:solidFill>
              </a:rPr>
              <a:t>MISCLASSIFICATIONS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62088" y="4208989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BB75"/>
                </a:solidFill>
              </a:rPr>
              <a:t>8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7562088" y="4754880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BD0"/>
                </a:solidFill>
              </a:rPr>
              <a:t>4 false positives + 4 false negatives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BREADGUARD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Confusion Matrix — MobileNetV2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12</a:t>
            </a:r>
            <a:endParaRPr lang="en-US" sz="1000" dirty="0"/>
          </a:p>
        </p:txBody>
      </p:sp>
      <p:pic>
        <p:nvPicPr>
          <p:cNvPr id="7" name="Image 0" descr="/mnt/data/mobilene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659635"/>
            <a:ext cx="6035040" cy="4389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920240"/>
            <a:ext cx="3840480" cy="1463040"/>
          </a:xfrm>
          <a:prstGeom prst="roundRect">
            <a:avLst>
              <a:gd name="adj" fmla="val 8750"/>
            </a:avLst>
          </a:prstGeom>
          <a:solidFill>
            <a:srgbClr val="142238"/>
          </a:solidFill>
          <a:ln w="12700">
            <a:solidFill>
              <a:srgbClr val="2941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62088" y="212140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BD0"/>
                </a:solidFill>
              </a:rPr>
              <a:t>CORRECT PREDICTIONS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62088" y="2350008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3FE0C5"/>
                </a:solidFill>
              </a:rPr>
              <a:t>69 / 73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562088" y="2926080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BD0"/>
                </a:solidFill>
              </a:rPr>
              <a:t>56 fresh + 13 spoiled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60920" y="3749040"/>
            <a:ext cx="3840480" cy="1463040"/>
          </a:xfrm>
          <a:prstGeom prst="roundRect">
            <a:avLst>
              <a:gd name="adj" fmla="val 8750"/>
            </a:avLst>
          </a:prstGeom>
          <a:solidFill>
            <a:srgbClr val="142238"/>
          </a:solidFill>
          <a:ln w="12700">
            <a:solidFill>
              <a:srgbClr val="29415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62088" y="395020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BD0"/>
                </a:solidFill>
              </a:rPr>
              <a:t>MISCLASSIFICATIONS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62088" y="4202463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BB75"/>
                </a:solidFill>
              </a:rPr>
              <a:t>4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7562088" y="4754880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BD0"/>
                </a:solidFill>
              </a:rPr>
              <a:t>1 false positive + 3 false negatives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BREADGUARD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Head-to-Head Model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046720" y="1828800"/>
            <a:ext cx="3337560" cy="1645920"/>
          </a:xfrm>
          <a:prstGeom prst="roundRect">
            <a:avLst>
              <a:gd name="adj" fmla="val 7778"/>
            </a:avLst>
          </a:prstGeom>
          <a:solidFill>
            <a:srgbClr val="142238"/>
          </a:solidFill>
          <a:ln w="12700">
            <a:solidFill>
              <a:srgbClr val="2941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47888" y="202996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BD0"/>
                </a:solidFill>
              </a:rPr>
              <a:t>CUSTOM CNN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47888" y="242316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6AA9FF"/>
                </a:solidFill>
              </a:rPr>
              <a:t>89.04%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247888" y="301752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BD0"/>
                </a:solidFill>
              </a:rPr>
              <a:t>test accuracy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0" y="3749040"/>
            <a:ext cx="3337560" cy="1645920"/>
          </a:xfrm>
          <a:prstGeom prst="roundRect">
            <a:avLst>
              <a:gd name="adj" fmla="val 7778"/>
            </a:avLst>
          </a:prstGeom>
          <a:solidFill>
            <a:srgbClr val="142238"/>
          </a:solidFill>
          <a:ln w="12700">
            <a:solidFill>
              <a:srgbClr val="29415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47888" y="395020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BD0"/>
                </a:solidFill>
              </a:rPr>
              <a:t>MOBILENETV2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47888" y="434340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3FE0C5"/>
                </a:solidFill>
              </a:rPr>
              <a:t>94.52%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8247888" y="493776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BD0"/>
                </a:solidFill>
              </a:rPr>
              <a:t>test accuracy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9728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A5AB12-677B-C7FF-4DEE-C0CA432C3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90" y="1732157"/>
            <a:ext cx="6625381" cy="40794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BREADGUARD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Live Web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91109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783080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Open the BreadGuard AI website.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2715768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587752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Upload a fresh bread image and request a prediction.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392424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Upload a spoiled bread image and compare the output.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325112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4197096"/>
            <a:ext cx="10195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2F6FC"/>
                </a:solidFill>
              </a:rPr>
              <a:t>Review the predicted class and confidence displayed in the UI.</a:t>
            </a:r>
            <a:endParaRPr lang="en-US" sz="2100" dirty="0"/>
          </a:p>
        </p:txBody>
      </p:sp>
      <p:sp>
        <p:nvSpPr>
          <p:cNvPr id="14" name="Text 12">
            <a:hlinkClick r:id="rId3"/>
          </p:cNvPr>
          <p:cNvSpPr/>
          <p:nvPr/>
        </p:nvSpPr>
        <p:spPr>
          <a:xfrm>
            <a:off x="86868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u="sng" dirty="0">
                <a:solidFill>
                  <a:srgbClr val="3FE0C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https://breadguard-ai-frontend.vercel.app/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BREADGUARD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Architecture &amp; Project Resources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5074920" cy="1417320"/>
          </a:xfrm>
          <a:prstGeom prst="roundRect">
            <a:avLst>
              <a:gd name="adj" fmla="val 9032"/>
            </a:avLst>
          </a:prstGeom>
          <a:solidFill>
            <a:srgbClr val="142238"/>
          </a:solidFill>
          <a:ln w="12700">
            <a:solidFill>
              <a:srgbClr val="2941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984248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BD0"/>
                </a:solidFill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2258568"/>
            <a:ext cx="4672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6AA9FF"/>
                </a:solidFill>
              </a:rPr>
              <a:t>Vercel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78408" y="2743200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BD0"/>
                </a:solidFill>
              </a:rPr>
              <a:t>Browser interface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074920" cy="1417320"/>
          </a:xfrm>
          <a:prstGeom prst="roundRect">
            <a:avLst>
              <a:gd name="adj" fmla="val 9032"/>
            </a:avLst>
          </a:prstGeom>
          <a:solidFill>
            <a:srgbClr val="142238"/>
          </a:solidFill>
          <a:ln w="12700">
            <a:solidFill>
              <a:srgbClr val="2941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984248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9BBD0"/>
                </a:solidFill>
              </a:rPr>
              <a:t>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19088" y="2203969"/>
            <a:ext cx="4672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3FE0C5"/>
                </a:solidFill>
              </a:rPr>
              <a:t>FastAPI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19088" y="2743200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BD0"/>
                </a:solidFill>
              </a:rPr>
              <a:t>Render + TensorFlow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83133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3703320"/>
            <a:ext cx="10104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2F6FC"/>
                </a:solidFill>
              </a:rPr>
              <a:t>GitHub repository and README documentation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14400" y="4453128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4325112"/>
            <a:ext cx="10104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2F6FC"/>
                </a:solidFill>
              </a:rPr>
              <a:t>Project report, dataset archive, and trained models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14400" y="5074920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4946904"/>
            <a:ext cx="10104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2F6FC"/>
                </a:solidFill>
              </a:rPr>
              <a:t>Model evaluation plots and confusion matrices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601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FE0C5"/>
                </a:solidFill>
              </a:rPr>
              <a:t>github.com/Suf-tech/BreadGuard-AI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E0C5"/>
                </a:solidFill>
              </a:rPr>
              <a:t>BREADGUARD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6FC"/>
                </a:solidFill>
              </a:rPr>
              <a:t>Conclusion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BD0"/>
                </a:solidFill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911096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783080"/>
            <a:ext cx="10287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2F6FC"/>
                </a:solidFill>
              </a:rPr>
              <a:t>MobileNetV2 achieved the best test accuracy: 94.52%.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706624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578608"/>
            <a:ext cx="10287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2F6FC"/>
                </a:solidFill>
              </a:rPr>
              <a:t>The deployed application demonstrates end-to-end image classification.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502152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374136"/>
            <a:ext cx="10287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2F6FC"/>
                </a:solidFill>
              </a:rPr>
              <a:t>Improve spoiled-class coverage with more diverse, licensed images.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109728" cy="109728"/>
          </a:xfrm>
          <a:prstGeom prst="ellipse">
            <a:avLst/>
          </a:prstGeom>
          <a:solidFill>
            <a:srgbClr val="3FE0C5"/>
          </a:solidFill>
          <a:ln w="12700">
            <a:solidFill>
              <a:srgbClr val="3FE0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4169664"/>
            <a:ext cx="10287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2F6FC"/>
                </a:solidFill>
              </a:rPr>
              <a:t>Expand testing under varied lighting, backgrounds, and bread types.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55778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E0C5"/>
                </a:solidFill>
              </a:rPr>
              <a:t>Thank you!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605</Words>
  <Application>Microsoft Office PowerPoint</Application>
  <PresentationFormat>Widescreen</PresentationFormat>
  <Paragraphs>175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BreadGuard AI Project Presentation</dc:title>
  <dc:subject>Deep learning bread spoilage detection</dc:subject>
  <dc:creator>BreadGuard AI</dc:creator>
  <cp:lastModifiedBy>Sufiyan Khan</cp:lastModifiedBy>
  <cp:revision>2</cp:revision>
  <dcterms:created xsi:type="dcterms:W3CDTF">2026-10-27T17:02:37Z</dcterms:created>
  <dcterms:modified xsi:type="dcterms:W3CDTF">2026-10-27T17:22:22Z</dcterms:modified>
</cp:coreProperties>
</file>